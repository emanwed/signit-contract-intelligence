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2200" b="1" dirty="0">
                <a:solidFill>
                  <a:srgbClr val="B7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pPr indent="0" marL="0">
              <a:buNone/>
            </a:pPr>
            <a:r>
              <a:rPr lang="en-US" sz="2200" dirty="0">
                <a:solidFill>
                  <a:srgbClr val="C7C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ساين إت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Post-Signature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Intelligence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signed contracts into a living, trustworthy knowledge base — Arabic-first, built for Saudi enterprises.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041648"/>
            <a:ext cx="146304" cy="146304"/>
          </a:xfrm>
          <a:prstGeom prst="ellipse">
            <a:avLst/>
          </a:prstGeom>
          <a:solidFill>
            <a:srgbClr val="FFD2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3913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D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thesis — </a:t>
            </a:r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the product.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CEO &amp; VP Product review   ·   KSA · PDPL / ZATCA   ·   Interactive prototype + this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pain isn't reading contracts — it's the post-signature black hole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crowded, well-funded market is pre-signature — drafting, redlining, negotiation. The money actually leaks after signing, where a contract becomes a PDF no one opens until something breaks. That reframing set our scope.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7A3FD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631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1305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can’t find that clause.”  </a:t>
            </a:r>
            <a:pPr indent="0" marL="0">
              <a:buNone/>
            </a:pPr>
            <a:r>
              <a:rPr lang="en-US" sz="1200" b="1" dirty="0">
                <a:solidFill>
                  <a:srgbClr val="7A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70432" y="238658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is trapped in unsearchable bilingual PDFs; keyword search fails on meaning.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88493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275234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auto-renewed again.”  </a:t>
            </a:r>
            <a:pPr indent="0" marL="0">
              <a:buNone/>
            </a:pPr>
            <a:r>
              <a:rPr lang="en-US" sz="12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/ Finance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70432" y="300837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obligation tracking — renewal &amp; notice deadlines are invisible until they pass.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392424"/>
            <a:ext cx="457200" cy="457200"/>
          </a:xfrm>
          <a:prstGeom prst="ellipse">
            <a:avLst/>
          </a:prstGeom>
          <a:solidFill>
            <a:srgbClr val="2A63C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506724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33741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“What’s our total exposure?”  </a:t>
            </a:r>
            <a:pPr indent="0" marL="0">
              <a:buNone/>
            </a:pPr>
            <a:r>
              <a:rPr lang="en-US" sz="1200" b="1" dirty="0">
                <a:solidFill>
                  <a:srgbClr val="2A6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/ CFO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170432" y="363016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aggregate view of liability, caps or jurisdiction across the portfolio.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014216"/>
            <a:ext cx="457200" cy="457200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128516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70432" y="39959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the AI even right?”  </a:t>
            </a:r>
            <a:pPr indent="0" marL="0">
              <a:buNone/>
            </a:pPr>
            <a:r>
              <a:rPr lang="en-US" sz="12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70432" y="425196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extraction offers no way to verify — so it’s quietly abandoned.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 — WHAT THE BRIEF DIDN’T SAY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that weren’t obvious up front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974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057400"/>
            <a:ext cx="566928" cy="566928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991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74320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is table-stakes.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action are the product.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8952" y="35661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Pulling facts from a contract is a solved LLM task. The unsolved problem is getting a non-lawyer to believe a fact and act on it in time. We built the UI around that — not around documents.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783080"/>
            <a:ext cx="26974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93592" y="2057400"/>
            <a:ext cx="566928" cy="566928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324" y="21991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74320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Pre-signature is crowded;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post-signature is the leak.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93592" y="35661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deliberately ignore drafting and negotiation. Signit starts the moment a contract is signed — the exact window every other tool drops.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2200" y="1783080"/>
            <a:ext cx="26974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28232" y="2057400"/>
            <a:ext cx="566928" cy="566928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219913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8232" y="274320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KSA, bilingual + Hijri + PDPL is the product, not polish.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28232" y="356616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are Arabic-first and often bilingual; deadlines are Hijri; jurisdiction preference is local. Retrofitting Arabic onto an English tool fails here.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the product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make people read contracts. Make contracts answer questions — with receipts.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697480" cy="2788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084832"/>
            <a:ext cx="548640" cy="548640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219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396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1 · Trust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952" y="276148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Source-linked confidence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" y="320040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extracted fact carries a High / Med / Low confidence pill and links to the exact source clause. Click a value → see the original bilingual text.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8952" y="4160520"/>
            <a:ext cx="2185416" cy="310896"/>
          </a:xfrm>
          <a:prstGeom prst="roundRect">
            <a:avLst>
              <a:gd name="adj" fmla="val 50000"/>
            </a:avLst>
          </a:prstGeom>
          <a:solidFill>
            <a:srgbClr val="ECEB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" y="4160520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prototype: the Drawer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37560" y="1828800"/>
            <a:ext cx="2697480" cy="2788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93592" y="2084832"/>
            <a:ext cx="548640" cy="548640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22199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21396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2 · Coherence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593592" y="276148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dataset, three lenses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593592" y="320040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 switch (Executive / Procurement / Legal) changes altitude and emphasis — never the underlying data. One product, not three.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593592" y="4160520"/>
            <a:ext cx="2185416" cy="310896"/>
          </a:xfrm>
          <a:prstGeom prst="roundRect">
            <a:avLst>
              <a:gd name="adj" fmla="val 50000"/>
            </a:avLst>
          </a:prstGeom>
          <a:solidFill>
            <a:srgbClr val="ECEB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93592" y="4160520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prototype: persona lens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172200" y="1828800"/>
            <a:ext cx="2697480" cy="2788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28232" y="2084832"/>
            <a:ext cx="548640" cy="548640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22199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86600" y="21396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3 · Action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28232" y="276148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Post-signature action loop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28232" y="320040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pushes: obligations become calendar items, alerts fire at 30/7/1 days, owners are notified, misses escalate to a manager.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428232" y="4160520"/>
            <a:ext cx="2185416" cy="310896"/>
          </a:xfrm>
          <a:prstGeom prst="roundRect">
            <a:avLst>
              <a:gd name="adj" fmla="val 50000"/>
            </a:avLst>
          </a:prstGeom>
          <a:solidFill>
            <a:srgbClr val="ECEB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428232" y="4160520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prototype: Obligations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SOLUTION — SCOPE &amp; FEASIBILITY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build, what we skip, and what’s realistic today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77640" cy="16002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 — built in the prototype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&amp; fact extraction · type classification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&amp; playbook comparison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Obligations &amp; calendar · portfolio analytics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· Ask Signit · PDPL / ZATCA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3977640" cy="16002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3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out — and why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20665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/ redlining  </a:t>
            </a:r>
            <a:pPr indent="0" marL="0">
              <a:buNone/>
            </a:pPr>
            <a:r>
              <a:rPr lang="en-US" sz="9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pre-signature — different product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92040" y="2331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E-signature itself  </a:t>
            </a:r>
            <a:pPr indent="0" marL="0">
              <a:buNone/>
            </a:pPr>
            <a:r>
              <a:rPr lang="en-US" sz="9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Signit already does it; we layer 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92040" y="25968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vector DB  </a:t>
            </a:r>
            <a:pPr indent="0" marL="0">
              <a:buNone/>
            </a:pPr>
            <a:r>
              <a:rPr lang="en-US" sz="9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simulated — feasibility, not thesis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28620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/ user admin  </a:t>
            </a:r>
            <a:pPr indent="0" marL="0">
              <a:buNone/>
            </a:pPr>
            <a:r>
              <a:rPr lang="en-US" sz="9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plumbing, not the insight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364992"/>
            <a:ext cx="8138160" cy="1280160"/>
          </a:xfrm>
          <a:prstGeom prst="roundRect">
            <a:avLst>
              <a:gd name="adj" fmla="val 7857"/>
            </a:avLst>
          </a:prstGeom>
          <a:solidFill>
            <a:srgbClr val="F5F6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with AI today   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Aspirational — designed around, not promised   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7856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extraction with a confidence score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17720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100%-accurate extraction, no human review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405993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Meaning-based semantic search &amp; grounded Q&amp;A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1772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legal reasoning or advice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433425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Classification, anomaly &amp; playbook flags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17720" y="4334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Acting with no human in the loop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USER FLOWS &amp; INTERACTION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facts, served at three altitudes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problem is coherence: a CFO and a lawyer need very different depths from the same contract. One dataset, a persona lens, progressive disclosure — never three separate apps.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6974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267712"/>
            <a:ext cx="530352" cy="530352"/>
          </a:xfrm>
          <a:prstGeom prst="ellipse">
            <a:avLst/>
          </a:prstGeom>
          <a:solidFill>
            <a:srgbClr val="2A63C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400300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417320" y="257860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17320" y="2578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6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altitude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58952" y="3035808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“What’s our exposure, and what could bite us this quarter?”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8952" y="384048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Liability exposure · auto-renewal risk (90d) · below-playbook count · jurisdiction mix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37560" y="2011680"/>
            <a:ext cx="26974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93592" y="2267712"/>
            <a:ext cx="530352" cy="530352"/>
          </a:xfrm>
          <a:prstGeom prst="ellipse">
            <a:avLst/>
          </a:prstGeom>
          <a:solidFill>
            <a:srgbClr val="B26A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400300"/>
            <a:ext cx="265176" cy="265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251960" y="257860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51960" y="2578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 altitude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593592" y="3035808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“What’s renewing, who owns it, can we act before the deadline?”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593592" y="384048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Obligations calendar · Action Center · renewal alerts · owners &amp; escalation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172200" y="2011680"/>
            <a:ext cx="26974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28232" y="2267712"/>
            <a:ext cx="530352" cy="530352"/>
          </a:xfrm>
          <a:prstGeom prst="ellipse">
            <a:avLst/>
          </a:prstGeom>
          <a:solidFill>
            <a:srgbClr val="7A3FD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400300"/>
            <a:ext cx="265176" cy="26517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86600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7086600" y="257860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1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086600" y="2578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altitude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6428232" y="3035808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me the non-standard, elevated-risk clauses — verified.”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428232" y="384048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gauge + 6 dimensions · playbook comparison · semantic search · source clauses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INTERACTION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on demand — progressive disclosure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click adds exactly one layer of depth. A CFO stops at the number; a lawyer drills to the clause — from the same object.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856232" cy="1371600"/>
          </a:xfrm>
          <a:prstGeom prst="roundRect">
            <a:avLst>
              <a:gd name="adj" fmla="val 6667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" y="2093976"/>
            <a:ext cx="292608" cy="292608"/>
          </a:xfrm>
          <a:prstGeom prst="ellipse">
            <a:avLst/>
          </a:prstGeom>
          <a:solidFill>
            <a:srgbClr val="2A63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" y="245973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number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0936" y="277063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“Liability exposure 5.9M SAR”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13432" y="196596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96896" y="1965960"/>
            <a:ext cx="1856232" cy="1371600"/>
          </a:xfrm>
          <a:prstGeom prst="roundRect">
            <a:avLst>
              <a:gd name="adj" fmla="val 6667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24912" y="2093976"/>
            <a:ext cx="292608" cy="292608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4912" y="245973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list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24912" y="277063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contracts behind the number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07408" y="196596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90872" y="1965960"/>
            <a:ext cx="1856232" cy="1371600"/>
          </a:xfrm>
          <a:prstGeom prst="roundRect">
            <a:avLst>
              <a:gd name="adj" fmla="val 6667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18888" y="2093976"/>
            <a:ext cx="292608" cy="292608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245973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drawer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277063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facts, risk gauge, document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501384" y="196596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84848" y="1965960"/>
            <a:ext cx="1856232" cy="1371600"/>
          </a:xfrm>
          <a:prstGeom prst="roundRect">
            <a:avLst>
              <a:gd name="adj" fmla="val 6667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12864" y="2093976"/>
            <a:ext cx="292608" cy="292608"/>
          </a:xfrm>
          <a:prstGeom prst="ellipse">
            <a:avLst/>
          </a:prstGeom>
          <a:solidFill>
            <a:srgbClr val="7A3F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2864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12864" y="245973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clause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12864" y="277063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bilingual text + confidence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3611880"/>
            <a:ext cx="8138160" cy="960120"/>
          </a:xfrm>
          <a:prstGeom prst="roundRect">
            <a:avLst>
              <a:gd name="adj" fmla="val 10476"/>
            </a:avLst>
          </a:prstGeom>
          <a:solidFill>
            <a:srgbClr val="F5F6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3858768"/>
            <a:ext cx="457200" cy="457200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3973068"/>
            <a:ext cx="228600" cy="2286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417320" y="3675888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Push, don’t pull.  </a:t>
            </a:r>
            <a:pPr indent="0" marL="0">
              <a:buNone/>
            </a:pPr>
            <a:r>
              <a:rPr lang="en-US" sz="11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 and anomalies surface themselves in the Action Center with owners, streams and manager escalation — the user never has to remember to look.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CORE SCENARIO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quarterly exposure review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6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LENS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437437" cy="1737360"/>
          </a:xfrm>
          <a:prstGeom prst="roundRect">
            <a:avLst>
              <a:gd name="adj" fmla="val 6361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" y="2276856"/>
            <a:ext cx="292608" cy="292608"/>
          </a:xfrm>
          <a:prstGeom prst="ellipse">
            <a:avLst/>
          </a:prstGeom>
          <a:solidFill>
            <a:srgbClr val="2A63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2642616"/>
            <a:ext cx="11814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(Exec lens)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2953512"/>
            <a:ext cx="118140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portfolio KPIs load first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94637" y="2148840"/>
            <a:ext cx="329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78101" y="2148840"/>
            <a:ext cx="1437437" cy="1737360"/>
          </a:xfrm>
          <a:prstGeom prst="roundRect">
            <a:avLst>
              <a:gd name="adj" fmla="val 6361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06117" y="2276856"/>
            <a:ext cx="292608" cy="292608"/>
          </a:xfrm>
          <a:prstGeom prst="ellipse">
            <a:avLst/>
          </a:prstGeom>
          <a:solidFill>
            <a:srgbClr val="2A63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06117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06117" y="2642616"/>
            <a:ext cx="11814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risk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06117" y="2953512"/>
            <a:ext cx="118140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“Liability exposure 5.9M SAR”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69818" y="2148840"/>
            <a:ext cx="329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53282" y="2148840"/>
            <a:ext cx="1437437" cy="1737360"/>
          </a:xfrm>
          <a:prstGeom prst="roundRect">
            <a:avLst>
              <a:gd name="adj" fmla="val 6361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81298" y="2276856"/>
            <a:ext cx="292608" cy="292608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81298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81298" y="2642616"/>
            <a:ext cx="11814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the KPI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81298" y="2953512"/>
            <a:ext cx="118140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→ filtered contract list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44998" y="2148840"/>
            <a:ext cx="329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528462" y="2148840"/>
            <a:ext cx="1437437" cy="1737360"/>
          </a:xfrm>
          <a:prstGeom prst="roundRect">
            <a:avLst>
              <a:gd name="adj" fmla="val 6361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56478" y="2276856"/>
            <a:ext cx="292608" cy="292608"/>
          </a:xfrm>
          <a:prstGeom prst="ellipse">
            <a:avLst/>
          </a:prstGeom>
          <a:solidFill>
            <a:srgbClr val="D93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6478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56478" y="2642616"/>
            <a:ext cx="11814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drawer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56478" y="2953512"/>
            <a:ext cx="118140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gauge reads 66 · HIGH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20179" y="2148840"/>
            <a:ext cx="329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203643" y="2148840"/>
            <a:ext cx="1437437" cy="1737360"/>
          </a:xfrm>
          <a:prstGeom prst="roundRect">
            <a:avLst>
              <a:gd name="adj" fmla="val 6361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31659" y="2276856"/>
            <a:ext cx="292608" cy="292608"/>
          </a:xfrm>
          <a:prstGeom prst="ellipse">
            <a:avLst/>
          </a:prstGeom>
          <a:solidFill>
            <a:srgbClr val="158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31659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31659" y="2642616"/>
            <a:ext cx="11814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31659" y="2953512"/>
            <a:ext cx="118140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value → source clause + HIGH confidence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" y="416052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160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MOMENT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828800" y="41605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dataset takes the CFO from a portfolio number to the exact clause behind it.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CORE SCENARIO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stops an unwanted auto-renewal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LENS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856232" cy="1737360"/>
          </a:xfrm>
          <a:prstGeom prst="roundRect">
            <a:avLst>
              <a:gd name="adj" fmla="val 5263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" y="2276856"/>
            <a:ext cx="292608" cy="29260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264261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detects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295351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auto-renews in 120 days; 90-day notice required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13432" y="2148840"/>
            <a:ext cx="329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96896" y="2148840"/>
            <a:ext cx="1856232" cy="1737360"/>
          </a:xfrm>
          <a:prstGeom prst="roundRect">
            <a:avLst>
              <a:gd name="adj" fmla="val 5263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24912" y="2276856"/>
            <a:ext cx="292608" cy="292608"/>
          </a:xfrm>
          <a:prstGeom prst="ellipse">
            <a:avLst/>
          </a:prstGeom>
          <a:solidFill>
            <a:srgbClr val="B26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24912" y="264261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item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24912" y="295351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Notice obligation lands on the org calendar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07408" y="2148840"/>
            <a:ext cx="329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90872" y="2148840"/>
            <a:ext cx="1856232" cy="1737360"/>
          </a:xfrm>
          <a:prstGeom prst="roundRect">
            <a:avLst>
              <a:gd name="adj" fmla="val 5263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18888" y="2276856"/>
            <a:ext cx="292608" cy="292608"/>
          </a:xfrm>
          <a:prstGeom prst="ellipse">
            <a:avLst/>
          </a:prstGeom>
          <a:solidFill>
            <a:srgbClr val="4C6E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264261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fires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18888" y="295351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T-30, the owner gets email + Slack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01384" y="2148840"/>
            <a:ext cx="329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84848" y="2148840"/>
            <a:ext cx="1856232" cy="1737360"/>
          </a:xfrm>
          <a:prstGeom prst="roundRect">
            <a:avLst>
              <a:gd name="adj" fmla="val 5263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12864" y="2276856"/>
            <a:ext cx="292608" cy="292608"/>
          </a:xfrm>
          <a:prstGeom prst="ellipse">
            <a:avLst/>
          </a:prstGeom>
          <a:solidFill>
            <a:srgbClr val="D93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12864" y="264261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— or escalate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12864" y="295351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sends notice; if missed, escalates to manager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416052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60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MOMENT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828800" y="41605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deadline chases the owner. Escalation makes “nobody actioned it” impossible to ignore.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CORE SCENARIO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finds clauses by meaning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1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LENS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856232" cy="1737360"/>
          </a:xfrm>
          <a:prstGeom prst="roundRect">
            <a:avLst>
              <a:gd name="adj" fmla="val 5263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" y="2276856"/>
            <a:ext cx="292608" cy="292608"/>
          </a:xfrm>
          <a:prstGeom prst="ellipse">
            <a:avLst/>
          </a:prstGeom>
          <a:solidFill>
            <a:srgbClr val="7A3F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264261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by meaning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" y="295351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“IP ownership provisions” — or Franco-Arabic “mas2ooleya”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13432" y="2148840"/>
            <a:ext cx="329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96896" y="2148840"/>
            <a:ext cx="1856232" cy="1737360"/>
          </a:xfrm>
          <a:prstGeom prst="roundRect">
            <a:avLst>
              <a:gd name="adj" fmla="val 5263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24912" y="2276856"/>
            <a:ext cx="292608" cy="292608"/>
          </a:xfrm>
          <a:prstGeom prst="ellipse">
            <a:avLst/>
          </a:prstGeom>
          <a:solidFill>
            <a:srgbClr val="7A3F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24912" y="264261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match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24912" y="295351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“work-for-hire”, “IP assignment” — words not in the query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07408" y="2148840"/>
            <a:ext cx="329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90872" y="2148840"/>
            <a:ext cx="1856232" cy="1737360"/>
          </a:xfrm>
          <a:prstGeom prst="roundRect">
            <a:avLst>
              <a:gd name="adj" fmla="val 5263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18888" y="2276856"/>
            <a:ext cx="292608" cy="292608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264261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results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18888" y="295351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0.97 → 0.94, source clause shown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01384" y="2148840"/>
            <a:ext cx="3291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84848" y="2148840"/>
            <a:ext cx="1856232" cy="1737360"/>
          </a:xfrm>
          <a:prstGeom prst="roundRect">
            <a:avLst>
              <a:gd name="adj" fmla="val 5263"/>
            </a:avLst>
          </a:prstGeom>
          <a:solidFill>
            <a:srgbClr val="FCFC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12864" y="2276856"/>
            <a:ext cx="292608" cy="292608"/>
          </a:xfrm>
          <a:prstGeom prst="ellipse">
            <a:avLst/>
          </a:prstGeom>
          <a:solidFill>
            <a:srgbClr val="158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12864" y="264261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12864" y="295351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→ original clause + confidence pill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416052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60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MOMENT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828800" y="41605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search that understands content — closed by the same source-linked trust loop.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REAL-WORLD MESSINESS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when the AI is wrong — not only when it’s right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81381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65376"/>
            <a:ext cx="457200" cy="457200"/>
          </a:xfrm>
          <a:prstGeom prst="ellipse">
            <a:avLst/>
          </a:prstGeom>
          <a:solidFill>
            <a:srgbClr val="D93A4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979676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81965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is wrong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66160" y="18196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fact is source-linked + confidence-scored, so the user catches it in one click; low-confidence items route to a review queue.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2514600"/>
            <a:ext cx="81381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596896"/>
            <a:ext cx="457200" cy="45720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711196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5511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contract is ambiguous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66160" y="25511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lands in a “needs your eyes” queue for a human, rather than being silently mis-scored.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3246120"/>
            <a:ext cx="81381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328416"/>
            <a:ext cx="457200" cy="457200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42716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826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missing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566160" y="328269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explicit “not found — —” state; the model is grounded and never invents a value.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3977640"/>
            <a:ext cx="81381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059936"/>
            <a:ext cx="457200" cy="457200"/>
          </a:xfrm>
          <a:prstGeom prst="ellipse">
            <a:avLst/>
          </a:prstGeom>
          <a:solidFill>
            <a:srgbClr val="2A63C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174236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0142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/ bilingual formats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566160" y="40142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Arabic-first RTL, dual Hijri + Gregorian dates, and Franco-Arabic (Arabizi) input are first-class in every search.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AI ARCHITECTURE — CONCEPTUAL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once, structure with confidence, serve everywhere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46669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7669" y="1792224"/>
            <a:ext cx="457200" cy="457200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969" y="1906524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" y="2249424"/>
            <a:ext cx="1356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PDF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9496" y="2468880"/>
            <a:ext cx="1393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/ en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933042" y="164592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170786" y="1645920"/>
            <a:ext cx="146669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75534" y="1792224"/>
            <a:ext cx="457200" cy="457200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834" y="1906524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25650" y="2249424"/>
            <a:ext cx="1356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OCR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207362" y="2468880"/>
            <a:ext cx="1393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+ lang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3600907" y="164592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838651" y="1645920"/>
            <a:ext cx="1466698" cy="1051560"/>
          </a:xfrm>
          <a:prstGeom prst="roundRect">
            <a:avLst>
              <a:gd name="adj" fmla="val 8696"/>
            </a:avLst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43400" y="1792224"/>
            <a:ext cx="457200" cy="457200"/>
          </a:xfrm>
          <a:prstGeom prst="ellipse">
            <a:avLst/>
          </a:prstGeom>
          <a:solidFill>
            <a:srgbClr val="4B3FC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906524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93515" y="2249424"/>
            <a:ext cx="1356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extraction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875227" y="2468880"/>
            <a:ext cx="1393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D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· span · confidence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5268773" y="164592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506517" y="1645920"/>
            <a:ext cx="146669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11266" y="1792224"/>
            <a:ext cx="457200" cy="457200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566" y="1906524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61381" y="2249424"/>
            <a:ext cx="1356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543093" y="2468880"/>
            <a:ext cx="1393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vectors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6936638" y="1645920"/>
            <a:ext cx="274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7174382" y="1645920"/>
            <a:ext cx="146669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679131" y="1792224"/>
            <a:ext cx="457200" cy="457200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3431" y="1906524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29246" y="2249424"/>
            <a:ext cx="13569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210958" y="2468880"/>
            <a:ext cx="1393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 / Pinecone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50292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— every view is a query over the same confidence-carrying layer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02920" y="3200400"/>
            <a:ext cx="1466698" cy="868680"/>
          </a:xfrm>
          <a:prstGeom prst="roundRect">
            <a:avLst>
              <a:gd name="adj" fmla="val 10526"/>
            </a:avLst>
          </a:prstGeom>
          <a:solidFill>
            <a:srgbClr val="F5F6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35101" y="3310128"/>
            <a:ext cx="402336" cy="402336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685" y="3410712"/>
            <a:ext cx="201168" cy="20116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39496" y="3730752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2170786" y="3200400"/>
            <a:ext cx="1466698" cy="868680"/>
          </a:xfrm>
          <a:prstGeom prst="roundRect">
            <a:avLst>
              <a:gd name="adj" fmla="val 10526"/>
            </a:avLst>
          </a:prstGeom>
          <a:solidFill>
            <a:srgbClr val="F5F6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2702966" y="3310128"/>
            <a:ext cx="402336" cy="402336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3550" y="3410712"/>
            <a:ext cx="201168" cy="20116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2207362" y="3730752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Obligations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3838651" y="3200400"/>
            <a:ext cx="1466698" cy="868680"/>
          </a:xfrm>
          <a:prstGeom prst="roundRect">
            <a:avLst>
              <a:gd name="adj" fmla="val 10526"/>
            </a:avLst>
          </a:prstGeom>
          <a:solidFill>
            <a:srgbClr val="F5F6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4370832" y="3310128"/>
            <a:ext cx="402336" cy="402336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1416" y="3410712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3875227" y="3730752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5506517" y="3200400"/>
            <a:ext cx="1466698" cy="868680"/>
          </a:xfrm>
          <a:prstGeom prst="roundRect">
            <a:avLst>
              <a:gd name="adj" fmla="val 10526"/>
            </a:avLst>
          </a:prstGeom>
          <a:solidFill>
            <a:srgbClr val="F5F6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6038698" y="3310128"/>
            <a:ext cx="402336" cy="402336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9282" y="3410712"/>
            <a:ext cx="201168" cy="20116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5543093" y="3730752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7174382" y="3200400"/>
            <a:ext cx="1466698" cy="868680"/>
          </a:xfrm>
          <a:prstGeom prst="roundRect">
            <a:avLst>
              <a:gd name="adj" fmla="val 10526"/>
            </a:avLst>
          </a:prstGeom>
          <a:solidFill>
            <a:srgbClr val="F5F6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7706563" y="3310128"/>
            <a:ext cx="402336" cy="402336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7147" y="3410712"/>
            <a:ext cx="201168" cy="201168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210958" y="3730752"/>
            <a:ext cx="13935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Signit</a:t>
            </a:r>
            <a:endParaRPr lang="en-US" sz="900" dirty="0"/>
          </a:p>
        </p:txBody>
      </p:sp>
      <p:sp>
        <p:nvSpPr>
          <p:cNvPr id="54" name="Text 42"/>
          <p:cNvSpPr/>
          <p:nvPr/>
        </p:nvSpPr>
        <p:spPr>
          <a:xfrm>
            <a:off x="50292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status:  </a:t>
            </a:r>
            <a:pPr indent="0" marL="0">
              <a:buNone/>
            </a:pPr>
            <a:r>
              <a:rPr lang="en-US" sz="9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· classification · anomaly · Ask are </a:t>
            </a:r>
            <a:pPr indent="0" marL="0">
              <a:buNone/>
            </a:pPr>
            <a:r>
              <a:rPr lang="en-US" sz="950" b="1" dirty="0">
                <a:solidFill>
                  <a:srgbClr val="15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(Claude)</a:t>
            </a:r>
            <a:pPr indent="0" marL="0">
              <a:buNone/>
            </a:pPr>
            <a:r>
              <a:rPr lang="en-US" sz="9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 semantic search is </a:t>
            </a:r>
            <a:pPr indent="0" marL="0">
              <a:buNone/>
            </a:pPr>
            <a:r>
              <a:rPr lang="en-US" sz="95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pPr indent="0" marL="0">
              <a:buNone/>
            </a:pPr>
            <a:r>
              <a:rPr lang="en-US" sz="9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(concept vectors → real embeddings in prod).</a:t>
            </a:r>
            <a:endParaRPr lang="en-US" sz="950" dirty="0"/>
          </a:p>
        </p:txBody>
      </p:sp>
      <p:sp>
        <p:nvSpPr>
          <p:cNvPr id="55" name="Text 43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56" name="Text 44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TRUST &amp; 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verification, and graceful failure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8138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5564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Per-fact confidence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63240" y="186537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18653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0" y="175564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 + click-to-source on every value; low-confidence facts route to a verify queue.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40864"/>
            <a:ext cx="8138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3591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classification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63240" y="246888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4688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235915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0–100 → ≥95 auto · 85–94 spot-check · &lt;85 human review queue.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944368"/>
            <a:ext cx="8138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29626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match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063240" y="307238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1EA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30723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2962656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shown per result; the user verifies meaning against the source clause.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547872"/>
            <a:ext cx="8138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5661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/ ambiguous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063240" y="367588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36758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356616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empty state; grounded generation never invents a value or hallucinates.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224528"/>
            <a:ext cx="8138160" cy="548640"/>
          </a:xfrm>
          <a:prstGeom prst="roundRect">
            <a:avLst>
              <a:gd name="adj" fmla="val 16667"/>
            </a:avLst>
          </a:prstGeom>
          <a:solidFill>
            <a:srgbClr val="1312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245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model   </a:t>
            </a:r>
            <a:pPr indent="0" marL="0">
              <a:buNone/>
            </a:pPr>
            <a:r>
              <a:rPr lang="en-US" sz="950" dirty="0">
                <a:solidFill>
                  <a:srgbClr val="E7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generation  ·  source-linking  ·  confidence tiers  ·  human-in-the-loop  ·  never a silent guess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FEASIBILITY &amp; BUILD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prototype de-risks the highest-value modules first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clause extraction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21208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$10–20K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37960" y="173736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726680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+ playbook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12080" y="2057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$8–15K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37960" y="21031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7726680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Obligation extraction + calendar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12080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$8–15K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37960" y="246888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7726680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analytics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12080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$6–12K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37960" y="28346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834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7726680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/ semantic search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12080" y="3154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$5–10K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37960" y="320040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520440"/>
            <a:ext cx="7726680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(Slack / Teams / email)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12080" y="3520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$4–8K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37960" y="356616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3886200"/>
            <a:ext cx="7726680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· CLM/DocuSign · AWS/SOC2/VAPT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12080" y="3886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$16–32K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37960" y="393192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5F6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251960"/>
            <a:ext cx="7726680" cy="0"/>
          </a:xfrm>
          <a:prstGeom prst="line">
            <a:avLst/>
          </a:prstGeom>
          <a:noFill/>
          <a:ln w="12700">
            <a:solidFill>
              <a:srgbClr val="E1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CLM platform  $61–120K.  </a:t>
            </a:r>
            <a:pPr indent="0" marL="0">
              <a:buNone/>
            </a:pPr>
            <a:r>
              <a:rPr lang="en-US" sz="10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prototype proves the AI-heavy core — extraction, risk, obligations, analytics — and the end-to-end interaction model.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WAS BUILT &amp; TESTED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83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&amp; sample data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977640" cy="1572768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73936"/>
            <a:ext cx="493776" cy="493776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897380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8105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build 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34086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(Anthropic) — scaffolded the app, implemented every feature, generated the bilingual sample data, handled RTL + Franco-Arabic edge cases, and verified live in-browser. It also produced this deck and the product document.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3977640" cy="1572768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773936"/>
            <a:ext cx="493776" cy="493776"/>
          </a:xfrm>
          <a:prstGeom prst="ellipse">
            <a:avLst/>
          </a:prstGeom>
          <a:solidFill>
            <a:srgbClr val="6355E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484" y="1897380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18105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product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92040" y="2340864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claude-sonnet-4-6</a:t>
            </a:r>
            <a:pPr indent="0" marL="0">
              <a:buNone/>
            </a:pPr>
            <a:r>
              <a:rPr lang="en-US" sz="95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 the Anthropic API — /api/extract (source-linked facts + confidence) and /api/ask (grounded, cited, bilingual + Franco Q&amp;A). Prompt-cached; degrades to a local fallback when no key is set.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2920" y="3255264"/>
            <a:ext cx="397764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B26A00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58902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16736" y="34930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— stated honestly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31520" y="398678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stands in for the embedding → vector-DB pipeline (concept vectors → pgvector/Pinecone in prod). Email/Slack alerts &amp; escalation are shown in the UI, not wired live.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663440" y="3255264"/>
            <a:ext cx="3977640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1E4F0"/>
            </a:solidFill>
            <a:prstDash val="solid"/>
          </a:ln>
          <a:effectLst>
            <a:outerShdw sx="100000" sy="100000" kx="0" ky="0" algn="bl" rotWithShape="0" blurRad="88900" dist="25400" dir="5400000">
              <a:srgbClr val="3A3D55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474720"/>
            <a:ext cx="457200" cy="457200"/>
          </a:xfrm>
          <a:prstGeom prst="ellipse">
            <a:avLst/>
          </a:prstGeom>
          <a:solidFill>
            <a:srgbClr val="2A63C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58902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77256" y="34930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92040" y="398678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bilingual contracts — SAR values, Hijri + Gregorian dates, 7 contract types, PDPL/ZATCA clauses (incl. IP / work-for-hire), and realistic Saudi counterparties. Built for this prototype.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0292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16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800" b="1" dirty="0">
                <a:solidFill>
                  <a:srgbClr val="635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Post-Signature Contract Intelligence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7772400" y="482803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6F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pPr indent="0" marL="0">
              <a:buNone/>
            </a:pPr>
            <a:r>
              <a:rPr lang="en-US" sz="1800" b="1" dirty="0">
                <a:solidFill>
                  <a:srgbClr val="B7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the product.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Signit turns a folder of signed PDFs into a bilingual knowledge base three roles can trust — and that acts before deadlines instead of waiting.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3429000"/>
            <a:ext cx="3977640" cy="384048"/>
          </a:xfrm>
          <a:prstGeom prst="roundRect">
            <a:avLst>
              <a:gd name="adj" fmla="val 50000"/>
            </a:avLst>
          </a:prstGeom>
          <a:solidFill>
            <a:srgbClr val="1E1B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4290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  ·   extraction · risk · obligations · analytics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342900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1E1B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3429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C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  ·   semantic search · workflow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prototype + this deck   ·   ساين إت   ·   Post-Signature Contract Intelligence for Saudi enterprises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Signit — Product Deck</dc:title>
  <dc:subject>PptxGenJS Presentation</dc:subject>
  <dc:creator>Signit</dc:creator>
  <cp:lastModifiedBy>Signit</cp:lastModifiedBy>
  <cp:revision>1</cp:revision>
  <dcterms:created xsi:type="dcterms:W3CDTF">2026-07-05T15:41:45Z</dcterms:created>
  <dcterms:modified xsi:type="dcterms:W3CDTF">2026-07-05T15:41:45Z</dcterms:modified>
</cp:coreProperties>
</file>